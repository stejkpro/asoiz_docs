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9" r:id="rId3"/>
    <p:sldId id="298" r:id="rId4"/>
    <p:sldId id="282" r:id="rId5"/>
    <p:sldId id="296" r:id="rId6"/>
    <p:sldId id="257" r:id="rId7"/>
    <p:sldId id="27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80" r:id="rId17"/>
    <p:sldId id="281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tepik.org/course/58692/promo#toc?auth=logi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5E939-4CF6-45B4-93CF-EBD46C24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887" y="0"/>
            <a:ext cx="11704983" cy="2618554"/>
          </a:xfrm>
        </p:spPr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Тема 11.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Основы языка </a:t>
            </a:r>
            <a:r>
              <a:rPr lang="en-US" dirty="0">
                <a:solidFill>
                  <a:srgbClr val="FF0000"/>
                </a:solidFill>
              </a:rPr>
              <a:t>SQL</a:t>
            </a:r>
            <a:endParaRPr lang="ru-BY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E385A9-A9BA-4C61-A0B1-2F60D8497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4095" y="2554764"/>
            <a:ext cx="9020042" cy="3369365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Введение в язык 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ru-RU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3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Состав 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lang="ru-RU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3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70C0"/>
                </a:solidFill>
              </a:rPr>
              <a:t>DDL</a:t>
            </a:r>
            <a:r>
              <a:rPr lang="ru-RU" sz="2600" b="1" dirty="0">
                <a:solidFill>
                  <a:srgbClr val="0070C0"/>
                </a:solidFill>
              </a:rPr>
              <a:t>, </a:t>
            </a:r>
            <a:endParaRPr lang="en-US" sz="2600" b="1" dirty="0">
              <a:solidFill>
                <a:srgbClr val="0070C0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70C0"/>
                </a:solidFill>
              </a:rPr>
              <a:t>DML</a:t>
            </a:r>
            <a:r>
              <a:rPr lang="ru-RU" sz="2600" b="1" dirty="0">
                <a:solidFill>
                  <a:srgbClr val="0070C0"/>
                </a:solidFill>
              </a:rPr>
              <a:t>, </a:t>
            </a:r>
            <a:endParaRPr lang="en-US" sz="2600" b="1" dirty="0">
              <a:solidFill>
                <a:srgbClr val="0070C0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70C0"/>
                </a:solidFill>
              </a:rPr>
              <a:t>DCL</a:t>
            </a:r>
            <a:endParaRPr lang="ru-BY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8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87F75A-DBCB-4399-82C4-68B27CE6F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154"/>
            <a:ext cx="12088912" cy="495369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6820574-2918-41F7-884A-F70432EBBB06}"/>
              </a:ext>
            </a:extLst>
          </p:cNvPr>
          <p:cNvSpPr/>
          <p:nvPr/>
        </p:nvSpPr>
        <p:spPr>
          <a:xfrm>
            <a:off x="810408" y="128504"/>
            <a:ext cx="1011398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3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Распределение учебной дисциплины по семестрам</a:t>
            </a:r>
            <a:endParaRPr lang="ru-BY" sz="30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32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8321C5-8731-46F4-9C10-AB8468343D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22"/>
          <a:stretch/>
        </p:blipFill>
        <p:spPr>
          <a:xfrm>
            <a:off x="0" y="626165"/>
            <a:ext cx="12146070" cy="604445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3CF304-22B1-4613-8777-A92BBB421530}"/>
              </a:ext>
            </a:extLst>
          </p:cNvPr>
          <p:cNvSpPr/>
          <p:nvPr/>
        </p:nvSpPr>
        <p:spPr>
          <a:xfrm>
            <a:off x="2865169" y="187381"/>
            <a:ext cx="4811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СОДЕРЖАНИЕ УЧЕБНОГО МАТЕРИАЛА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686958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034EAA-6586-439B-9C8E-662067EC0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75" y="1875318"/>
            <a:ext cx="6058746" cy="100026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78ABA-9EA0-4457-834A-1A095D6CC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75" y="0"/>
            <a:ext cx="2926668" cy="101103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9AF713-1D7B-4935-AB68-55B8183E4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89" y="3410008"/>
            <a:ext cx="3820058" cy="210531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D68493-2433-4722-84AA-957EA34D0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068" y="4019693"/>
            <a:ext cx="3105583" cy="149563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Звезда: 5 точек 7">
            <a:extLst>
              <a:ext uri="{FF2B5EF4-FFF2-40B4-BE49-F238E27FC236}">
                <a16:creationId xmlns:a16="http://schemas.microsoft.com/office/drawing/2014/main" id="{6259B47B-AA18-49A3-9721-F1815E716CFB}"/>
              </a:ext>
            </a:extLst>
          </p:cNvPr>
          <p:cNvSpPr/>
          <p:nvPr/>
        </p:nvSpPr>
        <p:spPr>
          <a:xfrm>
            <a:off x="119270" y="1875318"/>
            <a:ext cx="914400" cy="914400"/>
          </a:xfrm>
          <a:prstGeom prst="star5">
            <a:avLst>
              <a:gd name="adj" fmla="val 23031"/>
              <a:gd name="hf" fmla="val 105146"/>
              <a:gd name="vf" fmla="val 11055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9" name="Звезда: 5 точек 8">
            <a:extLst>
              <a:ext uri="{FF2B5EF4-FFF2-40B4-BE49-F238E27FC236}">
                <a16:creationId xmlns:a16="http://schemas.microsoft.com/office/drawing/2014/main" id="{79125437-06FC-4893-9101-0D29BB64A351}"/>
              </a:ext>
            </a:extLst>
          </p:cNvPr>
          <p:cNvSpPr/>
          <p:nvPr/>
        </p:nvSpPr>
        <p:spPr>
          <a:xfrm>
            <a:off x="139148" y="3750230"/>
            <a:ext cx="914400" cy="914400"/>
          </a:xfrm>
          <a:prstGeom prst="star5">
            <a:avLst>
              <a:gd name="adj" fmla="val 23031"/>
              <a:gd name="hf" fmla="val 105146"/>
              <a:gd name="vf" fmla="val 11055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79DE738-5CAF-42C5-ADA2-06847190C213}"/>
              </a:ext>
            </a:extLst>
          </p:cNvPr>
          <p:cNvSpPr/>
          <p:nvPr/>
        </p:nvSpPr>
        <p:spPr>
          <a:xfrm>
            <a:off x="5219068" y="3429000"/>
            <a:ext cx="601158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BY" sz="2600" b="1" dirty="0"/>
              <a:t>https://stepik.org/course/63054/info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0E7478-E600-46A4-A6DC-D2A44CF1E1FF}"/>
              </a:ext>
            </a:extLst>
          </p:cNvPr>
          <p:cNvSpPr/>
          <p:nvPr/>
        </p:nvSpPr>
        <p:spPr>
          <a:xfrm>
            <a:off x="1078983" y="1272194"/>
            <a:ext cx="61975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BY" sz="2600" b="1" dirty="0"/>
              <a:t>https://stepik.org/course/130079/info</a:t>
            </a:r>
          </a:p>
        </p:txBody>
      </p:sp>
    </p:spTree>
    <p:extLst>
      <p:ext uri="{BB962C8B-B14F-4D97-AF65-F5344CB8AC3E}">
        <p14:creationId xmlns:p14="http://schemas.microsoft.com/office/powerpoint/2010/main" val="27197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C116B3A-F3D4-4E2E-84C8-85787B243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841" y="69276"/>
            <a:ext cx="8013730" cy="3294576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https://stepik.org/course/58692/promo#toc?auth=login</a:t>
            </a:r>
            <a:br>
              <a:rPr lang="ru-RU" dirty="0"/>
            </a:br>
            <a:endParaRPr lang="ru-BY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0036B9-FAB2-4DF8-A8A4-4F2C12B088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917"/>
          <a:stretch/>
        </p:blipFill>
        <p:spPr>
          <a:xfrm>
            <a:off x="1200659" y="800823"/>
            <a:ext cx="9416808" cy="1375847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967C13-16F8-4233-A787-AC6A41C23EBF}"/>
              </a:ext>
            </a:extLst>
          </p:cNvPr>
          <p:cNvSpPr/>
          <p:nvPr/>
        </p:nvSpPr>
        <p:spPr>
          <a:xfrm>
            <a:off x="950226" y="2246765"/>
            <a:ext cx="86299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BY" dirty="0"/>
              <a:t>https://stepik.org/course/136543/promo#toc?auth=login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A999D0-C7E3-4C8F-A032-019C5E3482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5392"/>
          <a:stretch/>
        </p:blipFill>
        <p:spPr>
          <a:xfrm>
            <a:off x="1026948" y="2615309"/>
            <a:ext cx="9437502" cy="1280892"/>
          </a:xfrm>
          <a:prstGeom prst="rect">
            <a:avLst/>
          </a:prstGeom>
        </p:spPr>
      </p:pic>
      <p:sp>
        <p:nvSpPr>
          <p:cNvPr id="7" name="Звезда: 5 точек 6">
            <a:extLst>
              <a:ext uri="{FF2B5EF4-FFF2-40B4-BE49-F238E27FC236}">
                <a16:creationId xmlns:a16="http://schemas.microsoft.com/office/drawing/2014/main" id="{831842ED-39D5-45E6-A0CD-E18791B2CFA2}"/>
              </a:ext>
            </a:extLst>
          </p:cNvPr>
          <p:cNvSpPr/>
          <p:nvPr/>
        </p:nvSpPr>
        <p:spPr>
          <a:xfrm>
            <a:off x="188843" y="931100"/>
            <a:ext cx="914400" cy="914400"/>
          </a:xfrm>
          <a:prstGeom prst="star5">
            <a:avLst>
              <a:gd name="adj" fmla="val 23031"/>
              <a:gd name="hf" fmla="val 105146"/>
              <a:gd name="vf" fmla="val 11055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8" name="Звезда: 5 точек 7">
            <a:extLst>
              <a:ext uri="{FF2B5EF4-FFF2-40B4-BE49-F238E27FC236}">
                <a16:creationId xmlns:a16="http://schemas.microsoft.com/office/drawing/2014/main" id="{DDF15388-99F7-483D-B20A-14186FFC6FF2}"/>
              </a:ext>
            </a:extLst>
          </p:cNvPr>
          <p:cNvSpPr/>
          <p:nvPr/>
        </p:nvSpPr>
        <p:spPr>
          <a:xfrm>
            <a:off x="22719" y="2756042"/>
            <a:ext cx="914400" cy="914400"/>
          </a:xfrm>
          <a:prstGeom prst="star5">
            <a:avLst>
              <a:gd name="adj" fmla="val 23031"/>
              <a:gd name="hf" fmla="val 105146"/>
              <a:gd name="vf" fmla="val 11055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8C192D32-5E1C-4C82-A720-2657AB6B058A}"/>
              </a:ext>
            </a:extLst>
          </p:cNvPr>
          <p:cNvSpPr txBox="1">
            <a:spLocks/>
          </p:cNvSpPr>
          <p:nvPr/>
        </p:nvSpPr>
        <p:spPr>
          <a:xfrm>
            <a:off x="963760" y="4022253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https://stepik.org/course/191774/promo#toc?auth=login</a:t>
            </a:r>
            <a:endParaRPr lang="ru-BY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797B48-2C3B-4E7F-A329-C1EE2E479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136" y="4508869"/>
            <a:ext cx="10728078" cy="2321344"/>
          </a:xfrm>
          <a:prstGeom prst="rect">
            <a:avLst/>
          </a:prstGeom>
        </p:spPr>
      </p:pic>
      <p:sp>
        <p:nvSpPr>
          <p:cNvPr id="11" name="Звезда: 5 точек 10">
            <a:extLst>
              <a:ext uri="{FF2B5EF4-FFF2-40B4-BE49-F238E27FC236}">
                <a16:creationId xmlns:a16="http://schemas.microsoft.com/office/drawing/2014/main" id="{FD505552-661C-42AE-9A49-516C25A93C26}"/>
              </a:ext>
            </a:extLst>
          </p:cNvPr>
          <p:cNvSpPr/>
          <p:nvPr/>
        </p:nvSpPr>
        <p:spPr>
          <a:xfrm>
            <a:off x="112548" y="4508869"/>
            <a:ext cx="914400" cy="914400"/>
          </a:xfrm>
          <a:prstGeom prst="star5">
            <a:avLst>
              <a:gd name="adj" fmla="val 23031"/>
              <a:gd name="hf" fmla="val 105146"/>
              <a:gd name="vf" fmla="val 11055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00814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742FE2-CF8C-4345-84CA-2AF18A6EE17D}"/>
              </a:ext>
            </a:extLst>
          </p:cNvPr>
          <p:cNvSpPr/>
          <p:nvPr/>
        </p:nvSpPr>
        <p:spPr>
          <a:xfrm>
            <a:off x="387626" y="2780646"/>
            <a:ext cx="11449878" cy="3407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5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 точки зрения реализации 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язык </a:t>
            </a:r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SQL</a:t>
            </a:r>
            <a:r>
              <a:rPr lang="ru-RU" sz="25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представляет собой </a:t>
            </a:r>
            <a:r>
              <a:rPr lang="ru-RU" sz="25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набор операторов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которые делятся на определенные группы и у каждой группы есть свое назначение. </a:t>
            </a:r>
            <a:endParaRPr lang="en-US" sz="2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сокращенном виде эти группы называются </a:t>
            </a:r>
            <a:endParaRPr lang="en-US" sz="2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DDL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DML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DCL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TCL</a:t>
            </a:r>
            <a:r>
              <a:rPr lang="ru-RU" sz="24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05FAA9-871A-4226-81F2-D0DC586763FD}"/>
              </a:ext>
            </a:extLst>
          </p:cNvPr>
          <p:cNvSpPr/>
          <p:nvPr/>
        </p:nvSpPr>
        <p:spPr>
          <a:xfrm>
            <a:off x="221974" y="669370"/>
            <a:ext cx="11748052" cy="2203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07000"/>
              </a:lnSpc>
              <a:spcAft>
                <a:spcPts val="800"/>
              </a:spcAft>
            </a:pPr>
            <a:r>
              <a:rPr lang="ru-RU" sz="3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SQL</a:t>
            </a:r>
            <a:r>
              <a:rPr lang="ru-RU" sz="25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ru-RU" sz="2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ru-RU" sz="25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аббр</a:t>
            </a:r>
            <a:r>
              <a:rPr lang="ru-RU" sz="2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 от англ. </a:t>
            </a:r>
            <a:r>
              <a:rPr lang="ru-RU" sz="2500" b="1" dirty="0" err="1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Structured</a:t>
            </a:r>
            <a:r>
              <a:rPr lang="ru-RU" sz="25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ru-RU" sz="2500" b="1" dirty="0" err="1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Query</a:t>
            </a:r>
            <a:r>
              <a:rPr lang="ru-RU" sz="25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ru-RU" sz="2500" b="1" dirty="0" err="1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Language</a:t>
            </a:r>
            <a:r>
              <a:rPr lang="ru-RU" sz="2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— «язык структурированных запросов») — декларативный язык программирования, применяемый </a:t>
            </a:r>
            <a:r>
              <a:rPr lang="ru-RU" sz="25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для </a:t>
            </a:r>
            <a:r>
              <a:rPr lang="ru-RU" sz="25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создания, модификации и управления данными в</a:t>
            </a:r>
            <a:r>
              <a:rPr lang="ru-RU" sz="2500" b="1" u="sng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реляционной </a:t>
            </a:r>
            <a:r>
              <a:rPr lang="ru-RU" sz="25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базе данных</a:t>
            </a:r>
            <a:r>
              <a:rPr lang="ru-RU" sz="2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управляемой соответствующей </a:t>
            </a:r>
            <a:r>
              <a:rPr lang="ru-RU" sz="25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системой управления базами данных</a:t>
            </a:r>
            <a:r>
              <a:rPr lang="ru-RU" sz="25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ru-BY" sz="25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7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9DE7D8-E151-4075-860B-E71F41D278D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20" y="0"/>
            <a:ext cx="10480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42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28AB3C4-32D3-4765-A6DE-29EB40909A43}"/>
              </a:ext>
            </a:extLst>
          </p:cNvPr>
          <p:cNvSpPr/>
          <p:nvPr/>
        </p:nvSpPr>
        <p:spPr>
          <a:xfrm>
            <a:off x="-3313" y="3154557"/>
            <a:ext cx="12195313" cy="2262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635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эту группу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входят следующие операторы: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marR="1316355" indent="-457200" algn="just">
              <a:lnSpc>
                <a:spcPct val="150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CREATE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используется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создания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объектов базы данных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marR="1316355" indent="-457200" algn="just">
              <a:lnSpc>
                <a:spcPct val="150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ALTER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используется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изменения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объектов базы данных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50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DROP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используется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удаления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объектов базы данных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D9A1C9-8498-44C3-BCA7-696DFFB51B97}"/>
              </a:ext>
            </a:extLst>
          </p:cNvPr>
          <p:cNvSpPr/>
          <p:nvPr/>
        </p:nvSpPr>
        <p:spPr>
          <a:xfrm>
            <a:off x="834769" y="123447"/>
            <a:ext cx="608692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Definition Language</a:t>
            </a:r>
            <a:r>
              <a:rPr lang="ru-RU" sz="3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3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DDL</a:t>
            </a:r>
            <a:r>
              <a:rPr lang="ru-RU" sz="3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endParaRPr lang="ru-BY" sz="3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EA7B27-7B38-492D-B4DE-066E5EFB7FC0}"/>
              </a:ext>
            </a:extLst>
          </p:cNvPr>
          <p:cNvSpPr/>
          <p:nvPr/>
        </p:nvSpPr>
        <p:spPr>
          <a:xfrm>
            <a:off x="0" y="1032618"/>
            <a:ext cx="11748052" cy="1766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6350" algn="just">
              <a:lnSpc>
                <a:spcPct val="111000"/>
              </a:lnSpc>
              <a:spcAft>
                <a:spcPts val="25"/>
              </a:spcAft>
            </a:pPr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DDL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Definition Language</a:t>
            </a:r>
            <a:r>
              <a:rPr lang="ru-RU" sz="25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DDL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– это </a:t>
            </a:r>
            <a:r>
              <a:rPr lang="ru-RU" sz="25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группа операторов </a:t>
            </a:r>
            <a:r>
              <a:rPr lang="ru-RU" sz="25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определения данных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Другими словами, </a:t>
            </a:r>
            <a:r>
              <a:rPr lang="ru-RU" sz="25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 помощью операторов, входящих в эту группу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мы </a:t>
            </a:r>
            <a:r>
              <a:rPr lang="ru-RU" sz="25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определяем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5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структуру базы данных </a:t>
            </a:r>
            <a:r>
              <a:rPr lang="ru-RU" sz="25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5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работаем с объектами этой базы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т.е. </a:t>
            </a:r>
            <a:r>
              <a:rPr lang="ru-RU" sz="25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создаем, изменяем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r>
              <a:rPr lang="ru-RU" sz="25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удаляем </a:t>
            </a:r>
            <a:r>
              <a:rPr lang="ru-RU" sz="25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их. </a:t>
            </a:r>
            <a:endParaRPr lang="ru-BY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8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840F2D-63BB-49BA-A46C-ED304C17C0D6}"/>
              </a:ext>
            </a:extLst>
          </p:cNvPr>
          <p:cNvSpPr/>
          <p:nvPr/>
        </p:nvSpPr>
        <p:spPr>
          <a:xfrm>
            <a:off x="765311" y="857107"/>
            <a:ext cx="11270975" cy="479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DML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Manipulation Language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DML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– это группа операторов для манипуляции данными.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 помощью этих операторов мы можем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добавлять, изменять, удалять и выгружать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данные из базы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т.е.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манипулировать ими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5760" indent="-6350" algn="just">
              <a:lnSpc>
                <a:spcPct val="111000"/>
              </a:lnSpc>
              <a:spcBef>
                <a:spcPts val="1200"/>
              </a:spcBef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эту группу входят самые распространённые операторы языка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SQL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50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осуществляет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выборку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данных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0260" marR="2901315" indent="-457200">
              <a:lnSpc>
                <a:spcPct val="150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INSERT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добавляет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новые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данные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0260" marR="2901315" indent="-457200">
              <a:lnSpc>
                <a:spcPct val="150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UPDATE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изменяет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существующие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данные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0260" marR="2901315" indent="-457200">
              <a:lnSpc>
                <a:spcPct val="150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DELETE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удаляет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данные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99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0D18AE-0489-4B3A-9D70-CF463FCDA2FD}"/>
              </a:ext>
            </a:extLst>
          </p:cNvPr>
          <p:cNvSpPr/>
          <p:nvPr/>
        </p:nvSpPr>
        <p:spPr>
          <a:xfrm>
            <a:off x="675860" y="892694"/>
            <a:ext cx="11102010" cy="4933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6350" algn="just">
              <a:lnSpc>
                <a:spcPct val="111000"/>
              </a:lnSpc>
              <a:spcAft>
                <a:spcPts val="25"/>
              </a:spcAft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DCL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Control Language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DCL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–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группа операторов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определения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доступа к данным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Иными словами, это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операторы</a:t>
            </a:r>
            <a:r>
              <a:rPr lang="ru-RU" sz="2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для </a:t>
            </a:r>
            <a:r>
              <a:rPr lang="ru-RU" sz="2600" b="1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управления разрешениями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с помощью них мы можем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разрешать или запрещать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выполнение определенных операций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над объектами базы данных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25"/>
              </a:spcAft>
            </a:pP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65760" indent="-635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Сюда входят: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GRANT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предоставляет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пользователю или группе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разрешения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 определённые операции с объектом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REVOKE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отзывает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выданные разрешения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DENY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задаёт запрет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имеющий приоритет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над разрешением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ru-BY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35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F8CDE3-6540-4B69-98C8-26692DF3C8B3}"/>
              </a:ext>
            </a:extLst>
          </p:cNvPr>
          <p:cNvSpPr/>
          <p:nvPr/>
        </p:nvSpPr>
        <p:spPr>
          <a:xfrm>
            <a:off x="815010" y="850381"/>
            <a:ext cx="10296938" cy="4942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TCL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Transaction Control Language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TCL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– группа операторов для управления транзакциями.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Транзакция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это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команда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или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блок команд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(инструкций), которые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успешно завершаются как единое целое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при этом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базе данных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все внесенные изменения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фиксируются </a:t>
            </a: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 постоянной основе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или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отменяются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т.е. все изменения, внесенные любой командой, входящей в транзакцию, будут отменены.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Группа операторов 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TCL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предназначена для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реализации и управления транзакциями. </a:t>
            </a:r>
            <a:endParaRPr lang="en-US" sz="2600" b="1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982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E9D6FF-FB71-4AA8-8499-9A7C3E4C9A15}"/>
              </a:ext>
            </a:extLst>
          </p:cNvPr>
          <p:cNvSpPr/>
          <p:nvPr/>
        </p:nvSpPr>
        <p:spPr>
          <a:xfrm>
            <a:off x="815010" y="850381"/>
            <a:ext cx="10754138" cy="4942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Сюда можно отнести: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BEGIN TRANSACTION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служит для определения начала транзакции;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endParaRPr lang="ru-BY" sz="2600" b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COMMIT TRANSACTION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применяет транзакцию;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ROLLBACK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TRANSACTION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откатывает все изменения, сделанные в контексте текущей транзакции;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SAVE TRANSACTION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устанавливает промежуточную точку сохранения внутри транзакции.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8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BE10C5-F222-4C62-8C75-3D0342AA48F7}"/>
              </a:ext>
            </a:extLst>
          </p:cNvPr>
          <p:cNvSpPr/>
          <p:nvPr/>
        </p:nvSpPr>
        <p:spPr>
          <a:xfrm>
            <a:off x="1153118" y="0"/>
            <a:ext cx="4001801" cy="56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6235" indent="-6350" algn="just">
              <a:lnSpc>
                <a:spcPct val="112000"/>
              </a:lnSpc>
              <a:spcAft>
                <a:spcPts val="15"/>
              </a:spcAft>
            </a:pPr>
            <a:r>
              <a:rPr lang="ru-RU" sz="30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Идентификаторы </a:t>
            </a:r>
            <a:endParaRPr lang="ru-BY" sz="3000" u="sng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12FAD6-4511-47A3-8CBE-6C381EEBBF2C}"/>
              </a:ext>
            </a:extLst>
          </p:cNvPr>
          <p:cNvSpPr/>
          <p:nvPr/>
        </p:nvSpPr>
        <p:spPr>
          <a:xfrm>
            <a:off x="357809" y="769952"/>
            <a:ext cx="11479695" cy="5113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Все объекты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MS SQL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сервер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имеют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свои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собственные имена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с помощью которых можно ссылаться на них. 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Имена объектов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называются </a:t>
            </a: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идентификаторами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Любой объект БД </a:t>
            </a:r>
            <a:r>
              <a:rPr lang="ru-RU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должен быть уникально идентифицирован. </a:t>
            </a:r>
            <a:endParaRPr lang="en-US" sz="2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Bef>
                <a:spcPts val="1200"/>
              </a:spcBef>
              <a:spcAft>
                <a:spcPts val="25"/>
              </a:spcAft>
            </a:pP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Transact SQL </a:t>
            </a:r>
            <a:r>
              <a:rPr lang="en-US" sz="26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налагает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ряд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ограничений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наименований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объектов</a:t>
            </a:r>
            <a:r>
              <a:rPr lang="en-US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lang="ru-BY" sz="2600" b="1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71550" lvl="1" indent="-514350">
              <a:buAutoNum type="arabicParenR"/>
            </a:pP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Первый символ </a:t>
            </a: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имени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объекта </a:t>
            </a:r>
            <a:r>
              <a:rPr lang="ru-RU" sz="2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должен быть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одним из символов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латинского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или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национального алфавита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либо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символом подчеркивания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Т.е.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допускается использование 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качестве первого символа имени объекта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цифр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некоторых других знаков </a:t>
            </a:r>
            <a:r>
              <a:rPr lang="ru-RU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 </a:t>
            </a:r>
            <a:r>
              <a:rPr lang="ru-RU" sz="32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</a:t>
            </a:r>
            <a:r>
              <a:rPr lang="ru-RU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32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!</a:t>
            </a:r>
            <a:r>
              <a:rPr lang="ru-RU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32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  <a:r>
              <a:rPr lang="ru-RU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…). </a:t>
            </a:r>
            <a:endParaRPr lang="en-US" sz="32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555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A8FF7B-E5EE-42EB-9131-46A7F6430310}"/>
              </a:ext>
            </a:extLst>
          </p:cNvPr>
          <p:cNvSpPr/>
          <p:nvPr/>
        </p:nvSpPr>
        <p:spPr>
          <a:xfrm>
            <a:off x="0" y="700378"/>
            <a:ext cx="11837504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</a:t>
            </a:r>
            <a:r>
              <a:rPr lang="ru-RU" sz="2600" b="1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обозначения объектов </a:t>
            </a:r>
            <a:endParaRPr lang="en-US" sz="2600" b="1" u="sng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сервер</a:t>
            </a: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разрешает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использование символов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ctr"/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@, # </a:t>
            </a:r>
            <a:endParaRPr lang="en-US" sz="2600" b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именования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временных таблиц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хранимых процедур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Временные объекты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существуют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только </a:t>
            </a:r>
            <a:r>
              <a:rPr lang="ru-RU" sz="2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течении </a:t>
            </a:r>
            <a:r>
              <a:rPr lang="ru-RU" sz="2600" b="1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сеанса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или </a:t>
            </a:r>
            <a:r>
              <a:rPr lang="ru-RU" sz="2600" b="1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транзакции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а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затем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уничтожаются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обозначения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глобальных временных объектов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к которым могут обращаться все пользователи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Transact SQL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позволяет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использовать символы</a:t>
            </a:r>
            <a:r>
              <a:rPr lang="ru-RU" sz="2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@@, ##. </a:t>
            </a:r>
            <a:endParaRPr lang="en-US" sz="2600" b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/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Некоторые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функции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r>
              <a:rPr lang="en-US" sz="26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переменные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u="sng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начинаются</a:t>
            </a:r>
            <a:r>
              <a:rPr lang="en-US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 </a:t>
            </a:r>
            <a:r>
              <a:rPr lang="en-US" sz="2600" u="sng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символа</a:t>
            </a:r>
            <a:r>
              <a:rPr lang="en-US" sz="2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@@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ru-BY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87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05C88B-ABEE-4F2C-BA70-24E44F314FB2}"/>
              </a:ext>
            </a:extLst>
          </p:cNvPr>
          <p:cNvSpPr/>
          <p:nvPr/>
        </p:nvSpPr>
        <p:spPr>
          <a:xfrm>
            <a:off x="685800" y="782000"/>
            <a:ext cx="10505662" cy="5386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2)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Основная часть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идентификатора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может включать </a:t>
            </a:r>
            <a:endParaRPr lang="en-US" sz="2600" u="sng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любые символы,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десятичные цифры,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подчеркивание,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решетки и т. д.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3)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 выборе имени следует убедиться, что оно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является </a:t>
            </a:r>
            <a:r>
              <a:rPr lang="ru-RU" sz="2600" b="1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зарезервированным словом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и что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существует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объект с таким именем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Transact SQL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различает регистров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в которых набраны символы и поэтому 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считает одинаковыми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имена объектов </a:t>
            </a:r>
            <a:r>
              <a:rPr lang="ru-RU" sz="26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разных регистрах. </a:t>
            </a: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773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05C88B-ABEE-4F2C-BA70-24E44F314FB2}"/>
              </a:ext>
            </a:extLst>
          </p:cNvPr>
          <p:cNvSpPr/>
          <p:nvPr/>
        </p:nvSpPr>
        <p:spPr>
          <a:xfrm>
            <a:off x="685800" y="782000"/>
            <a:ext cx="10505662" cy="2277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4)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Запрещено 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использование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внутри имени </a:t>
            </a:r>
            <a:endParaRPr lang="en-US" sz="2600" u="sng" dirty="0">
              <a:solidFill>
                <a:srgbClr val="0070C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пробелов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круглых скобок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14400" lvl="1" indent="-4572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спец. символов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74027B-B585-4C83-8BB9-3D5245997CF6}"/>
              </a:ext>
            </a:extLst>
          </p:cNvPr>
          <p:cNvSpPr/>
          <p:nvPr/>
        </p:nvSpPr>
        <p:spPr>
          <a:xfrm>
            <a:off x="496955" y="2700252"/>
            <a:ext cx="11519454" cy="3396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5)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Длина имени объекта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должна превышать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128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символов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 algn="just" fontAlgn="base">
              <a:lnSpc>
                <a:spcPct val="111000"/>
              </a:lnSpc>
              <a:spcBef>
                <a:spcPts val="600"/>
              </a:spcBef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Исключения 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составляют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имена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временных таблиц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длина имени которых не должна превышать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116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символов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 algn="just" fontAlgn="base">
              <a:lnSpc>
                <a:spcPct val="111000"/>
              </a:lnSpc>
              <a:spcBef>
                <a:spcPts val="600"/>
              </a:spcBef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обхода некоторых ограничений 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можно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заключать имена объектов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двойные кавычки 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или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квадратные скобки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0" indent="-457200" algn="just" fontAlgn="base">
              <a:lnSpc>
                <a:spcPct val="111000"/>
              </a:lnSpc>
              <a:spcBef>
                <a:spcPts val="600"/>
              </a:spcBef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этом случае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разрешается использование 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имени объекта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пробелов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спец. символов 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символов зарезервированных слов</a:t>
            </a:r>
            <a:endParaRPr lang="ru-BY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613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74027B-B585-4C83-8BB9-3D5245997CF6}"/>
              </a:ext>
            </a:extLst>
          </p:cNvPr>
          <p:cNvSpPr/>
          <p:nvPr/>
        </p:nvSpPr>
        <p:spPr>
          <a:xfrm>
            <a:off x="672546" y="1000660"/>
            <a:ext cx="11519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6)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Идентификаторы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заключающиеся в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двойные кавычки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или </a:t>
            </a: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квадратные скобки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называются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ограниченными идентификаторами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ru-BY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E59796D-4C4A-42C5-8E8C-6E49C9432287}"/>
              </a:ext>
            </a:extLst>
          </p:cNvPr>
          <p:cNvSpPr/>
          <p:nvPr/>
        </p:nvSpPr>
        <p:spPr>
          <a:xfrm>
            <a:off x="672546" y="2131752"/>
            <a:ext cx="106282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Выражения. </a:t>
            </a:r>
            <a:endParaRPr lang="ru-BY" sz="3000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B3F1D33-E5AE-4460-94AA-7EC38B873E06}"/>
              </a:ext>
            </a:extLst>
          </p:cNvPr>
          <p:cNvSpPr/>
          <p:nvPr/>
        </p:nvSpPr>
        <p:spPr>
          <a:xfrm>
            <a:off x="447261" y="2924290"/>
            <a:ext cx="11744739" cy="2721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Выражения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SQL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представляют собой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комбинацию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идентификаторов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функций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логических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арифметических операций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констант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других объектов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511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5277B56-7645-4942-8945-E16E8A5033FE}"/>
              </a:ext>
            </a:extLst>
          </p:cNvPr>
          <p:cNvSpPr/>
          <p:nvPr/>
        </p:nvSpPr>
        <p:spPr>
          <a:xfrm>
            <a:off x="540026" y="3429000"/>
            <a:ext cx="11111948" cy="2721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-6350" algn="just">
              <a:lnSpc>
                <a:spcPct val="111000"/>
              </a:lnSpc>
              <a:spcAft>
                <a:spcPts val="25"/>
              </a:spcAft>
            </a:pP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Операнды </a:t>
            </a:r>
            <a:r>
              <a:rPr lang="en-US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SQL</a:t>
            </a:r>
            <a:r>
              <a:rPr lang="ru-RU" sz="2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делится на следующие типы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1)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Константы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постоянные величины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значения которых 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могут быть изменены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2)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Функции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именованные программы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выполняющие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обработку данных</a:t>
            </a:r>
            <a:r>
              <a:rPr lang="ru-RU" sz="26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некотором случае возвращающие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определенный 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результат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FC155F1-40C0-41C6-B4A7-7953E22F6238}"/>
              </a:ext>
            </a:extLst>
          </p:cNvPr>
          <p:cNvSpPr/>
          <p:nvPr/>
        </p:nvSpPr>
        <p:spPr>
          <a:xfrm>
            <a:off x="447261" y="844788"/>
            <a:ext cx="11744739" cy="2431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lvl="1" algn="just">
              <a:lnSpc>
                <a:spcPct val="111000"/>
              </a:lnSpc>
              <a:spcAft>
                <a:spcPts val="25"/>
              </a:spcAft>
            </a:pP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Выражение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может быть использовано </a:t>
            </a:r>
            <a:r>
              <a:rPr lang="ru-RU" sz="26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качестве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аргумента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b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26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командах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хранимым процедурах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или </a:t>
            </a:r>
            <a:r>
              <a:rPr lang="ru-RU" sz="2600" b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запросах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lvl="1" algn="just">
              <a:lnSpc>
                <a:spcPct val="111000"/>
              </a:lnSpc>
              <a:spcBef>
                <a:spcPts val="1200"/>
              </a:spcBef>
              <a:spcAft>
                <a:spcPts val="25"/>
              </a:spcAft>
            </a:pP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Выражение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состоит из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377950" lvl="2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операндов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377950" lvl="2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операторо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956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CC4613-68DA-4D44-A2F9-C1FF9CADCCEB}"/>
              </a:ext>
            </a:extLst>
          </p:cNvPr>
          <p:cNvSpPr/>
          <p:nvPr/>
        </p:nvSpPr>
        <p:spPr>
          <a:xfrm>
            <a:off x="268357" y="685464"/>
            <a:ext cx="11579085" cy="945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Функции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реализуют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наиболее часто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выполняемые алгоритмы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что </a:t>
            </a:r>
            <a:r>
              <a:rPr lang="ru-RU" sz="26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избавляет пользователей </a:t>
            </a:r>
            <a:r>
              <a:rPr lang="ru-RU" sz="26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от многократного написания одного кода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EE128B-BACB-4836-82AA-0D780BD59BA5}"/>
              </a:ext>
            </a:extLst>
          </p:cNvPr>
          <p:cNvSpPr/>
          <p:nvPr/>
        </p:nvSpPr>
        <p:spPr>
          <a:xfrm>
            <a:off x="586409" y="1899132"/>
            <a:ext cx="11261033" cy="4054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3)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Имя колонки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качестве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операнда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может выступать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колонка</a:t>
            </a:r>
            <a:r>
              <a:rPr lang="ru-RU" sz="26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таблицы. </a:t>
            </a:r>
            <a:endParaRPr lang="en-US" sz="2600" dirty="0">
              <a:solidFill>
                <a:srgbClr val="0070C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Это часто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используется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 обработке данных таблицы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удовлетворяющих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определенному </a:t>
            </a:r>
            <a:r>
              <a:rPr lang="ru-RU" sz="2600" b="1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критерию</a:t>
            </a:r>
            <a:r>
              <a:rPr lang="ru-RU" sz="2600" b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b="1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Пользователь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указывает в выражении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имя </a:t>
            </a:r>
            <a:r>
              <a:rPr lang="ru-RU" sz="26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интересующей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колонки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а </a:t>
            </a:r>
            <a:r>
              <a:rPr lang="ru-RU" sz="2600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сервер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автоматически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подставляет туда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соответствующее значение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последовательном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просмотре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таблицы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имя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колонки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будет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изменяться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974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525FDB-5029-43C3-BF8E-8C5B0C17052A}"/>
              </a:ext>
            </a:extLst>
          </p:cNvPr>
          <p:cNvSpPr/>
          <p:nvPr/>
        </p:nvSpPr>
        <p:spPr>
          <a:xfrm>
            <a:off x="768625" y="767045"/>
            <a:ext cx="10883348" cy="3611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4)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Переменная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именованная область памяти определенного объема, в которой хранятся данные.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18000"/>
              </a:lnSpc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Фактически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любая переменная-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это последовательность из одного или несколько байт.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>
              <a:lnSpc>
                <a:spcPct val="118000"/>
              </a:lnSpc>
            </a:pP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То, как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сервер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будет обрабатывать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последовательность, представленную значением переменной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зависит от типа данных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ассоциированной с этой переменной. </a:t>
            </a:r>
            <a:endParaRPr lang="ru-BY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064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4B3060-A056-471A-B651-95E494AEC9F0}"/>
              </a:ext>
            </a:extLst>
          </p:cNvPr>
          <p:cNvSpPr/>
          <p:nvPr/>
        </p:nvSpPr>
        <p:spPr>
          <a:xfrm>
            <a:off x="940905" y="955728"/>
            <a:ext cx="11135138" cy="3610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5)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Подзапрос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в качестве выражения можно указать подзапрос, который подготавливает соответствующий набор данных.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 принципу работы это эквивалентно указанию колонки таблицы только в случае подзапроса.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Данные не дано явно закачивать в таблицу.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Сервер сам создает временную таблицу с необходимой структурой, копируя в нее выбранные данные, и подключает полученный набор данных в качестве выражения.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137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8405C93-AB14-4DEC-8C66-77653752B95D}"/>
              </a:ext>
            </a:extLst>
          </p:cNvPr>
          <p:cNvSpPr/>
          <p:nvPr/>
        </p:nvSpPr>
        <p:spPr>
          <a:xfrm>
            <a:off x="881270" y="915971"/>
            <a:ext cx="10429460" cy="4942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Выполняемые действия задаются с помощью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операторов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которые </a:t>
            </a: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делятся на типы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</a:t>
            </a: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–"/>
            </a:pP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простейшие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унарные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операторы 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работают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только с одним </a:t>
            </a:r>
            <a:r>
              <a:rPr lang="ru-RU" sz="26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операндом. </a:t>
            </a:r>
            <a:endParaRPr lang="en-US" sz="2600" dirty="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Простейшие операторы могут быть использованы с любыми величинами числового типа, как с числовыми, так и с дробными.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–"/>
            </a:pPr>
            <a:r>
              <a:rPr lang="ru-RU" sz="2600" u="sng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оператор присваивания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используется для присваивания переменной определенного значения, полученного в результате вычисления выражения.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004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902F02-DF7B-4324-97E0-1A5919101F78}"/>
              </a:ext>
            </a:extLst>
          </p:cNvPr>
          <p:cNvSpPr/>
          <p:nvPr/>
        </p:nvSpPr>
        <p:spPr>
          <a:xfrm>
            <a:off x="881270" y="915971"/>
            <a:ext cx="10429460" cy="1389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</a:t>
            </a:r>
            <a:r>
              <a:rPr lang="en-US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SQL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-сервер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единственным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оператором присваивания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является знак равенства (</a:t>
            </a: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), который также используется в операторе сравнения. </a:t>
            </a: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A7A4A4-DEF3-43DE-ABD8-76258574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666" y="2782099"/>
            <a:ext cx="5969128" cy="129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16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72C029-4921-45B0-A43A-89953A26A7BC}"/>
              </a:ext>
            </a:extLst>
          </p:cNvPr>
          <p:cNvSpPr/>
          <p:nvPr/>
        </p:nvSpPr>
        <p:spPr>
          <a:xfrm>
            <a:off x="327991" y="854163"/>
            <a:ext cx="11618843" cy="5079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–"/>
            </a:pP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арифметические операции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это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бинарные операции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выполняемые с операндами, имеющими числовой тип данных. К ним относят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ctr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</a:pPr>
            <a:r>
              <a:rPr lang="ru-RU" sz="34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*, /, +, -, %. </a:t>
            </a:r>
            <a:endParaRPr lang="en-US" sz="3400" dirty="0">
              <a:solidFill>
                <a:srgbClr val="0070C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–"/>
            </a:pP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Арифметические операторы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возвращают значения того же типа, что и входные. </a:t>
            </a:r>
            <a:endParaRPr lang="en-US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–"/>
            </a:pP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–"/>
            </a:pPr>
            <a:r>
              <a:rPr lang="ru-RU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строковые 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единственные операции, которые можно непосредственно производить над операндами символьного типа - </a:t>
            </a:r>
            <a:r>
              <a:rPr lang="ru-RU" sz="2600" b="1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конкатенация (сложение)</a:t>
            </a:r>
            <a:r>
              <a:rPr lang="ru-RU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Для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обозначения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конкотенации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строк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используется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знак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«</a:t>
            </a:r>
            <a:r>
              <a:rPr lang="en-US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</a:t>
            </a:r>
            <a:r>
              <a:rPr lang="en-US" sz="26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». </a:t>
            </a:r>
            <a:endParaRPr lang="ru-BY" sz="26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algn="just" fontAlgn="base">
              <a:lnSpc>
                <a:spcPct val="111000"/>
              </a:lnSpc>
              <a:spcAft>
                <a:spcPts val="25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–"/>
            </a:pPr>
            <a:r>
              <a:rPr lang="en-US" sz="2600" b="1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Сравнение</a:t>
            </a:r>
            <a:r>
              <a:rPr lang="en-US" sz="2600" b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b="1" dirty="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003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75DBDA7-2F50-48DB-A2BB-3B01A155C96A}"/>
              </a:ext>
            </a:extLst>
          </p:cNvPr>
          <p:cNvSpPr/>
          <p:nvPr/>
        </p:nvSpPr>
        <p:spPr>
          <a:xfrm>
            <a:off x="477079" y="751647"/>
            <a:ext cx="10962860" cy="4942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Операторы сравнения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могут дать информацию о сравнительной величине операндов.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Допускается использование следующих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логических операндов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равно «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больше «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&gt;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меньше «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&lt;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меньше или равно «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&lt;=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больше или равно «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&gt;=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равно «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!=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 или «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&lt;&gt;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менее чем «</a:t>
            </a:r>
            <a:r>
              <a:rPr lang="ru-RU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!&lt;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»,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более чем «</a:t>
            </a:r>
            <a:r>
              <a:rPr lang="ru-RU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!&gt;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11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E88531B-992E-483F-8446-8445D854F378}"/>
              </a:ext>
            </a:extLst>
          </p:cNvPr>
          <p:cNvSpPr/>
          <p:nvPr/>
        </p:nvSpPr>
        <p:spPr>
          <a:xfrm>
            <a:off x="477079" y="751647"/>
            <a:ext cx="10962860" cy="4498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Результатом выполнения логического операнда будет значение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«истина» (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),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если условие выполняется, или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«ложь» (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FALSE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противном случае.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Если сравнение невозможно (например, в случае несовпадения типов), то возвращается неопределенное значение</a:t>
            </a:r>
            <a:r>
              <a:rPr lang="ru-RU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NULL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Логические операторы. </a:t>
            </a:r>
            <a:endParaRPr lang="ru-BY" sz="2600" b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Операторы этого типа возвращают значения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или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FALSE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и могут быть использованы в различных конструкциях, включая запросы.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69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D12AA86-9419-406A-BA3D-138E0175D043}"/>
              </a:ext>
            </a:extLst>
          </p:cNvPr>
          <p:cNvSpPr/>
          <p:nvPr/>
        </p:nvSpPr>
        <p:spPr>
          <a:xfrm>
            <a:off x="477079" y="751647"/>
            <a:ext cx="10962860" cy="3610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Логические операторы могут быть представлены в виде нескольких операторов сравнения и являются своего рода надстройкой над ними.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Transact SQL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есть следующие операторы: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ALL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выполняет сравнение для набора данных.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lvl="1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Если условие выполнено для всего набора данных, возвращается значение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59D371-6EA9-4F48-9164-DDD8C1EDAA8A}"/>
              </a:ext>
            </a:extLst>
          </p:cNvPr>
          <p:cNvSpPr/>
          <p:nvPr/>
        </p:nvSpPr>
        <p:spPr>
          <a:xfrm>
            <a:off x="561561" y="4454957"/>
            <a:ext cx="10793896" cy="945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оперирует с двумя булевыми выражениями. Только если оба выражения истинны (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), возвратится значение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768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59D371-6EA9-4F48-9164-DDD8C1EDAA8A}"/>
              </a:ext>
            </a:extLst>
          </p:cNvPr>
          <p:cNvSpPr/>
          <p:nvPr/>
        </p:nvSpPr>
        <p:spPr>
          <a:xfrm>
            <a:off x="541683" y="747662"/>
            <a:ext cx="10793896" cy="4942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0" lvl="1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ANY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выполняет сравнение для набора данных. Если условие выполнено, хотя бы для одного элемента из набора данных, возвращается значение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. </a:t>
            </a:r>
            <a:endParaRPr lang="en-US" sz="26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6355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endParaRPr lang="ru-BY" sz="26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BETWEEN</a:t>
            </a:r>
            <a:r>
              <a:rPr lang="ru-RU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проверяет, лежит ли значение в указанном диапазоне.               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EXIST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 возвращает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если подзапрос возвращает хотя бы одну строку. Таким образом, этот оператор проверяет существование данных.  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6350" indent="359410" algn="just">
              <a:lnSpc>
                <a:spcPct val="111000"/>
              </a:lnSpc>
              <a:spcAft>
                <a:spcPts val="25"/>
              </a:spcAft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415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59D371-6EA9-4F48-9164-DDD8C1EDAA8A}"/>
              </a:ext>
            </a:extLst>
          </p:cNvPr>
          <p:cNvSpPr/>
          <p:nvPr/>
        </p:nvSpPr>
        <p:spPr>
          <a:xfrm>
            <a:off x="387626" y="650066"/>
            <a:ext cx="10947953" cy="5557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57200" algn="just">
              <a:lnSpc>
                <a:spcPct val="111000"/>
              </a:lnSpc>
              <a:spcBef>
                <a:spcPts val="1200"/>
              </a:spcBef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ru-RU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</a:t>
            </a:r>
            <a:r>
              <a:rPr lang="ru-RU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возвращает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если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значение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входит в указанный список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Bef>
                <a:spcPts val="1200"/>
              </a:spcBef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LIKE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проверяет значение на </a:t>
            </a:r>
            <a:r>
              <a:rPr lang="ru-RU" sz="2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«похожесть» 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 указанному шаблону.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Bef>
                <a:spcPts val="1200"/>
              </a:spcBef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NOT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b="1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инвертирует</a:t>
            </a:r>
            <a:r>
              <a:rPr lang="ru-RU" sz="2600" u="sng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значение 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булева типа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то есть заменяет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FALSE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наоборот    </a:t>
            </a:r>
            <a:endParaRPr lang="en-US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16610" indent="-457200" algn="just">
              <a:lnSpc>
                <a:spcPct val="111000"/>
              </a:lnSpc>
              <a:spcBef>
                <a:spcPts val="1200"/>
              </a:spcBef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возвращает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если хотя бы один из двух операндов равен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920750" lvl="1" indent="-457200" algn="just">
              <a:lnSpc>
                <a:spcPct val="111000"/>
              </a:lnSpc>
              <a:spcBef>
                <a:spcPts val="1200"/>
              </a:spcBef>
              <a:spcAft>
                <a:spcPts val="25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SOME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выполняет сравнение для набора данных. Если условие выполнено для одного элемента из набора данных, возвращается значение </a:t>
            </a:r>
            <a:r>
              <a:rPr lang="en-US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TRUE</a:t>
            </a:r>
            <a:r>
              <a:rPr lang="ru-RU" sz="2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Аналог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ANY</a:t>
            </a:r>
            <a:r>
              <a:rPr lang="ru-RU" sz="26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ru-RU" sz="2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endParaRPr lang="ru-BY" sz="2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84771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TM10001114[[fn=Галерея]]</Template>
  <TotalTime>227</TotalTime>
  <Words>1554</Words>
  <Application>Microsoft Office PowerPoint</Application>
  <PresentationFormat>Широкоэкранный</PresentationFormat>
  <Paragraphs>163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Century Gothic</vt:lpstr>
      <vt:lpstr>Times New Roman</vt:lpstr>
      <vt:lpstr>Галерея</vt:lpstr>
      <vt:lpstr>Тема 11.  Основы языка SQL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11.  Основы языка SQL</dc:title>
  <dc:creator>Katerina</dc:creator>
  <cp:lastModifiedBy>Katerina</cp:lastModifiedBy>
  <cp:revision>20</cp:revision>
  <dcterms:created xsi:type="dcterms:W3CDTF">2025-01-25T20:24:09Z</dcterms:created>
  <dcterms:modified xsi:type="dcterms:W3CDTF">2025-02-07T19:51:06Z</dcterms:modified>
</cp:coreProperties>
</file>